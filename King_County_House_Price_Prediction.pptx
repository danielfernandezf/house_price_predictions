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847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(~20s): Hi everyone. This is my final project, King County House Price Prediction. The goal is to predict home sale prices and identify luxury homes using machine learning on 21,000+ real property sales near Seattle.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(~30s): One dataset, three tasks. First, regression to predict the exact price. Second, classification to flag luxury homes over $650k. Third, unsupervised clustering to segment the market. Each task answers a different business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(~30s): 21,613 sales, 21 features, no missing values. Average price is $540k but the distribution is heavily right-skewed — a few mansions up to $7.7M pull the mean up. That's why I log-transform the price before modelling. About a quarter of homes are luxury.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 1 (~30s): The flow is load, clean, engineer, then a scikit-learn pipeline. I created features like house age, renovation history, basement flag, and parsed the date. A key best practice: I removed every feature derived from price so there's no target leakage — the model only sees legitimate property attributes.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 2 (~30s): Every model runs through the same pipeline, wrapped so it learns on log-price but reports dollar errors. I compared 7 regressors and 4 classifiers on the exact same split. The feature importance chart shows the three biggest price drivers are location, build grade, and living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 (~35s): Four main hurdles. Skewed prices — fixed with a log transform. Leakage risk — fixed by dropping price-derived columns. Many zip codes — one-hot encoded inside the pipeline. And keeping model comparison fair — solved with one reusable evaluation function and a fixed random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(~25s): A standard, reproducible Python data stack — pandas and NumPy for data, Matplotlib and Seaborn for visuals, scikit-learn for all the modelling, SciPy for the statistical test, all inside Jupyter. I chose it because it's the industry standard for tabular ML and lets me cover all three tasks in one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management (~25s): I treated the notebook as both code and documentation — one section per stage, fully reproducible with fixed seeds and reusable functions. What worked was keeping everything in one consistent pipeline. If I extended it, I'd modularise the code and add cross-validated hyperparameter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Major obstacle (~40s): My biggest lesson. The headline R² of 0.88 looked excellent, but when I broke errors down by price band, the model was off by ~$48k on normal homes and ~$158k on luxury homes. Aggregate metrics hid a real weakness on the expensive segment. In hindsight I'd model the luxury tail separately and always report error per segment, not just overall.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Conclusions 1 (~30s): All three goals were met. Gradient Boosting explains about 88% of price variance and classifies luxury homes with 93% accuracy. Three features dominate: location, grade, and living area. The tree ensembles clearly beat the linear models because they capture non-linear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Conclusions 2 (~35s): The most surprising insight — clustering on physical and location features alone, with no price, recovered a premium and a standard segment that track price almost perfectly. That confirms those attributes really define value. Practically, this supports automated valuation and segment-based marketing. The open question is why luxury error stays high, and whether external data would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(~10s): That's the project — predicting prices, flagging luxury homes, and segmenting the market. Thank you, and I'm happy to take any questions. Now I'll switch to the notebook for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640080" y="269748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County</a:t>
            </a:r>
            <a:endParaRPr lang="en-US" sz="54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Price Prediction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658368" y="4526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home sale prices and spotting luxury properties with Machine Learning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685800" y="5440680"/>
            <a:ext cx="2011680" cy="0"/>
          </a:xfrm>
          <a:prstGeom prst="line">
            <a:avLst/>
          </a:prstGeom>
          <a:noFill/>
          <a:ln w="31750">
            <a:solidFill>
              <a:srgbClr val="2EE6D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4"/>
          <p:cNvSpPr/>
          <p:nvPr/>
        </p:nvSpPr>
        <p:spPr>
          <a:xfrm>
            <a:off x="658368" y="5623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</a:t>
            </a:r>
            <a:r>
              <a:rPr lang="en-US" sz="1600" dirty="0">
                <a:solidFill>
                  <a:srgbClr val="9A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Ironhack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project sets out to do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93852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one year of King County home sales (May 2014 – May 2015), the project answers three questions with three different families of ML models.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697480"/>
            <a:ext cx="3611880" cy="2788920"/>
          </a:xfrm>
          <a:prstGeom prst="roundRect">
            <a:avLst>
              <a:gd name="adj" fmla="val 3279"/>
            </a:avLst>
          </a:prstGeom>
          <a:solidFill>
            <a:srgbClr val="F1FBF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77240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price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41605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on the continuous sale price, and learn which features drive it most.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25112" y="2697480"/>
            <a:ext cx="3611880" cy="2788920"/>
          </a:xfrm>
          <a:prstGeom prst="roundRect">
            <a:avLst>
              <a:gd name="adj" fmla="val 3279"/>
            </a:avLst>
          </a:prstGeom>
          <a:solidFill>
            <a:srgbClr val="F1FBF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599432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4599432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luxury homes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599432" y="41605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is a house ≥ $650,000? Identify what sets premium homes apart.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147304" y="2697480"/>
            <a:ext cx="3611880" cy="2788920"/>
          </a:xfrm>
          <a:prstGeom prst="roundRect">
            <a:avLst>
              <a:gd name="adj" fmla="val 3279"/>
            </a:avLst>
          </a:prstGeom>
          <a:solidFill>
            <a:srgbClr val="F1FBF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8421624" y="2926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8421624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the market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421624" y="41605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KMeans clustering to find natural groups of homes — no price used.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County House Price Prediction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at a glance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993392"/>
            <a:ext cx="2542032" cy="1371600"/>
          </a:xfrm>
          <a:prstGeom prst="roundRect">
            <a:avLst>
              <a:gd name="adj" fmla="val 6667"/>
            </a:avLst>
          </a:prstGeom>
          <a:solidFill>
            <a:srgbClr val="13132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02920" y="2139696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21,613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27797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D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sales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172968" y="1993392"/>
            <a:ext cx="2542032" cy="1371600"/>
          </a:xfrm>
          <a:prstGeom prst="roundRect">
            <a:avLst>
              <a:gd name="adj" fmla="val 6667"/>
            </a:avLst>
          </a:prstGeom>
          <a:solidFill>
            <a:srgbClr val="13132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3172968" y="2139696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172968" y="27797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D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features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43016" y="1993392"/>
            <a:ext cx="2542032" cy="1371600"/>
          </a:xfrm>
          <a:prstGeom prst="roundRect">
            <a:avLst>
              <a:gd name="adj" fmla="val 6667"/>
            </a:avLst>
          </a:prstGeom>
          <a:solidFill>
            <a:srgbClr val="13132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5843016" y="2139696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$540k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843016" y="27797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D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price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513064" y="1993392"/>
            <a:ext cx="2542032" cy="1371600"/>
          </a:xfrm>
          <a:prstGeom prst="roundRect">
            <a:avLst>
              <a:gd name="adj" fmla="val 6667"/>
            </a:avLst>
          </a:prstGeom>
          <a:solidFill>
            <a:srgbClr val="13132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8513064" y="2139696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513064" y="27797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D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luxury (≥$650k)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" y="36118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Right‑skewed target.  </a:t>
            </a:r>
            <a:r>
              <a:rPr lang="en-US" sz="15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homes sell in the low‑to‑mid range with a long tail of very expensive properties (up to $7.7M). A </a:t>
            </a:r>
            <a:r>
              <a:rPr lang="en-US" sz="15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transformation</a:t>
            </a:r>
            <a:r>
              <a:rPr lang="en-US" sz="15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applied so models train on a well‑behaved distribution.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943600" y="3520440"/>
            <a:ext cx="57607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9" name="Image 1" descr="assets/fig_price_di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8192" y="3685032"/>
            <a:ext cx="5431536" cy="23682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County House Price Prediction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model‑ready features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201168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13132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02920" y="20116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&amp;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633472" y="201168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816352" y="201168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13132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2816352" y="20116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features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46904" y="201168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129784" y="201168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13132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5129784" y="20116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leakage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260336" y="201168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443216" y="201168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13132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7443216" y="20116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+ encode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573768" y="201168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9756648" y="201168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2EE6D6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9756648" y="201168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&amp; compare</a:t>
            </a:r>
            <a:endParaRPr lang="en-US" sz="13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3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features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48640" y="384048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house_age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sale year − year built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was_renovated  /  years_since_renovation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renovation history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has_basement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basement present or not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sale_year / sale_month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parsed from the sale date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0" y="3520440"/>
            <a:ext cx="5303520" cy="2468880"/>
          </a:xfrm>
          <a:prstGeom prst="roundRect">
            <a:avLst>
              <a:gd name="adj" fmla="val 3704"/>
            </a:avLst>
          </a:prstGeom>
          <a:solidFill>
            <a:srgbClr val="F1FBF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6675120" y="3703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No target leakage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675120" y="416052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built from price (</a:t>
            </a:r>
            <a:r>
              <a:rPr lang="en-US" sz="1450" i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log_price, luxury_home, price_per_sqft</a:t>
            </a:r>
            <a:r>
              <a:rPr lang="en-US" sz="14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plus IDs and dates are </a:t>
            </a:r>
            <a:r>
              <a:rPr lang="en-US" sz="145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from the predictors</a:t>
            </a:r>
            <a:r>
              <a:rPr lang="en-US" sz="14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the model can never see the answer it's trying to predict.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County House Price Prediction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consistent, reproducible modelling setup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066544"/>
            <a:ext cx="237744" cy="237744"/>
          </a:xfrm>
          <a:prstGeom prst="ellipse">
            <a:avLst/>
          </a:prstGeom>
          <a:solidFill>
            <a:srgbClr val="2EE6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Pipeline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31343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for numeric + OneHotEncoder for zipcode, so preprocessing is identical for every model.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145536"/>
            <a:ext cx="237744" cy="237744"/>
          </a:xfrm>
          <a:prstGeom prst="ellipse">
            <a:avLst/>
          </a:prstGeom>
          <a:solidFill>
            <a:srgbClr val="2EE6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914400" y="30449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Log‑target wrapper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39242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TransformedTargetRegressor (log1p / expm1) keeps errors interpretable in dollars.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224528"/>
            <a:ext cx="237744" cy="237744"/>
          </a:xfrm>
          <a:prstGeom prst="ellipse">
            <a:avLst/>
          </a:prstGeom>
          <a:solidFill>
            <a:srgbClr val="2EE6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914400" y="41239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comparison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4400" y="447141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80/20 split (random_state=42); models ranked by Test RMSE &amp; F1.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5303520"/>
            <a:ext cx="237744" cy="237744"/>
          </a:xfrm>
          <a:prstGeom prst="ellipse">
            <a:avLst/>
          </a:prstGeom>
          <a:solidFill>
            <a:srgbClr val="2EE6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914400" y="52029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regressors · 4 classifiers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55504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Linear/Ridge/Lasso to tree ensembles, plus KMeans for segmentation.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0" y="1965960"/>
            <a:ext cx="53035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8" name="Image 1" descr="assets/fig_feature_import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65392" y="2130552"/>
            <a:ext cx="4974336" cy="38313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00800" y="60533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price drivers: location (lat), grade &amp; living area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County House Price Prediction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faced — and how they were solved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2057400"/>
            <a:ext cx="11201400" cy="1024128"/>
          </a:xfrm>
          <a:prstGeom prst="roundRect">
            <a:avLst>
              <a:gd name="adj" fmla="val 8929"/>
            </a:avLst>
          </a:prstGeom>
          <a:solidFill>
            <a:srgbClr val="F1FBF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77240" y="2057400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Strongly skewed prices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886200" y="2057400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trained on raw price underperformed.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0" y="205740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 log1p target transform, then inverse‑transformed predictions back to dollars.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227832"/>
            <a:ext cx="112014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77240" y="322783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target leakage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886200" y="3227832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handy columns were derived from price.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80960" y="322783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excluded every price‑derived feature from the predictor set.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4398264"/>
            <a:ext cx="11201400" cy="1024128"/>
          </a:xfrm>
          <a:prstGeom prst="roundRect">
            <a:avLst>
              <a:gd name="adj" fmla="val 8929"/>
            </a:avLst>
          </a:prstGeom>
          <a:solidFill>
            <a:srgbClr val="F1FBF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777240" y="4398264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High‑cardinality zipcode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886200" y="4398264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 zip codes can't be fed as raw numbers.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680960" y="4398264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One‑hot encoded zipcode inside the pipeline with handle_unknown='ignore'.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5568696"/>
            <a:ext cx="112014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777240" y="5568696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many models fairly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886200" y="5568696"/>
            <a:ext cx="3657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get inconsistent, non‑reproducible results.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0" y="5568696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300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reusable evaluation function + fixed random_state for every model.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County House Price Prediction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 behind the analysis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2103120"/>
            <a:ext cx="37033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777240" y="23774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08760" y="241401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95528" y="30632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language for the whole pipeline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70832" y="2103120"/>
            <a:ext cx="37033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645152" y="23774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4645152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376672" y="241401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+ NumPy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663440" y="30632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wrangling &amp; feature engineering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38744" y="2103120"/>
            <a:ext cx="37033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8513064" y="23774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8513064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244584" y="241401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+ Seaborn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531352" y="30632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and all visualizations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4069080"/>
            <a:ext cx="37033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777240" y="43434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7724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508760" y="437997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scikit‑learn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795528" y="5029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Pipelines, models, KMeans, metrics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370832" y="4069080"/>
            <a:ext cx="37033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4645152" y="43434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4645152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376672" y="437997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4663440" y="5029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Welch's t‑test for hypothesis testing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238744" y="4069080"/>
            <a:ext cx="37033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8513064" y="43434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8513064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244584" y="437997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Notebook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8531352" y="5029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Interactive, reproducible workflow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02920" y="5989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stack:  the scikit‑learn + pandas ecosystem is the industry standard for tabular ML — fast to prototype, easy to keep reproducible, and rich enough to cover regression, classification and clustering in one place.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County House Price Prediction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&amp; PROJECT MANAGEMENT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work was organised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193852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was run as a single, linear notebook that doubles as documentation — each stage builds on the previous one and is reproducible end‑to‑end.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69748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1FBF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7724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notebook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section per stage (EDA → regression → classification → clustering) with markdown narration.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25112" y="269748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1FBF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4599432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first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99432" y="36118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seeds, pipelines and helper functions so any result can be regenerated on demand.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47304" y="269748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F1FBF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8421624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evaluation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421624" y="36118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added one at a time and ranked on a shared metrics table before picking a winner.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5394960"/>
            <a:ext cx="11201400" cy="868680"/>
          </a:xfrm>
          <a:prstGeom prst="roundRect">
            <a:avLst>
              <a:gd name="adj" fmla="val 10526"/>
            </a:avLst>
          </a:prstGeom>
          <a:solidFill>
            <a:srgbClr val="13132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777240" y="53949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worked:  </a:t>
            </a:r>
            <a:r>
              <a:rPr lang="en-US" sz="1450" dirty="0">
                <a:solidFill>
                  <a:srgbClr val="E3E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everything in one reproducible pipeline.   </a:t>
            </a:r>
            <a:r>
              <a:rPr lang="en-US" sz="145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improve:  </a:t>
            </a:r>
            <a:r>
              <a:rPr lang="en-US" sz="1450" dirty="0">
                <a:solidFill>
                  <a:srgbClr val="E3E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code into modules and add cross‑validated tuning.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County House Price Prediction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960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OBSTACLE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much weaker on luxury homes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22860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E1E3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0292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~$48k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D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error · non‑luxury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29000" y="22860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E1E3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342900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~$158k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429000" y="3154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D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error · luxury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2194560"/>
            <a:ext cx="53035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2" name="Image 1" descr="assets/fig_err_priceran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65392" y="2359152"/>
            <a:ext cx="4974336" cy="24597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learned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02920" y="448056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metrics hide segment failure. 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R² of 0.88 looked great until I broke errors down by price band and saw the high‑end was poorly served.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hindsight: </a:t>
            </a:r>
            <a:r>
              <a:rPr lang="en-US" sz="1400" dirty="0">
                <a:solidFill>
                  <a:srgbClr val="C9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model the luxury tail separately, gather more high‑end samples, and report error per segment from the start.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0" y="5029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rises steeply with price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INSIGHTS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project meet its objectives?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201168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13132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02920" y="221284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3E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R² — Gradient Boosting explains ~88% of price variance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70832" y="201168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13132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4370832" y="221284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599432" y="30175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3E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classifying luxury vs non‑luxury homes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38744" y="201168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13132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8238744" y="221284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467344" y="30175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3E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dominate price: location, grade &amp; living area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97764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1" descr="assets/fig_reg_r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512" y="4142232"/>
            <a:ext cx="5248656" cy="19568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080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learnings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400800" y="4370832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three objectives were met: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price prediction, reliable luxury detection, and a clean two‑segment market.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Ensembles beat linear models 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to non‑linear feature interactions.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Gradient Boosting </a:t>
            </a: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 by balancing accuracy with almost no overfitting.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County House Price Prediction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INSIGHTS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1188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surprising finding &amp; what it means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201168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1FBFA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3152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splits cleanly in two — without using price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31520" y="2880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 on physical &amp; location features alone recovered a Premium and a Standard segment that closely track price — strong evidence those attributes truly define value.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406908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13132B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02920" y="422452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4617720"/>
            <a:ext cx="267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$736k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price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D5D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 luxury · grade 8.6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19272" y="406908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1E1E3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3319272" y="4224528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19272" y="4617720"/>
            <a:ext cx="267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$420k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price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D5D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luxury · grade 7.1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0" y="2011680"/>
            <a:ext cx="53035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5" name="Image 1" descr="assets/fig_cluster_pri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65392" y="2176272"/>
            <a:ext cx="4974336" cy="23682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0800" y="48463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B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Implications:  </a:t>
            </a: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automated valuation, pricing premium listings, and targeting marketing by segment.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400800" y="55778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open:  </a:t>
            </a: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luxury error stays high, and whether external data (schools, transit) would close the gap.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County House Price Prediction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 County House Price Prediction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EB6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1789</Words>
  <Application>Microsoft Office PowerPoint</Application>
  <PresentationFormat>Panorámica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King County House Price Prediction</dc:title>
  <dc:subject>PptxGenJS Presentation</dc:subject>
  <dc:creator>Daniel</dc:creator>
  <cp:lastModifiedBy>Daniel Fernandez</cp:lastModifiedBy>
  <cp:revision>2</cp:revision>
  <dcterms:created xsi:type="dcterms:W3CDTF">2026-06-23T13:10:02Z</dcterms:created>
  <dcterms:modified xsi:type="dcterms:W3CDTF">2026-07-02T16:26:49Z</dcterms:modified>
</cp:coreProperties>
</file>