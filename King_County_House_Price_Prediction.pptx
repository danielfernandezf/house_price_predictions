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 (~20s): Hi everyone. This is my final project, King County House Price Prediction. The goal is to predict home sale prices and identify luxury homes using machine learning on 21,000+ real property sales near Seattle.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Overview (~30s): One dataset, three tasks. First, regression to predict the exact price. Second, classification to flag luxury homes over $650k. Third, unsupervised clustering to segment the market. Each task answers a different business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Dataset (~30s): 21,613 sales, 21 features, no missing values. Average price is $540k but the distribution is heavily right-skewed — a few mansions up to $7.7M pull the mean up. That's why I log-transform the price before modelling. About a quarter of homes are luxury.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Implementation 1 (~30s): The flow is load, clean, engineer, then a scikit-learn pipeline. I created features like house age, renovation history, basement flag, and parsed the date. A key best practice: I removed every feature derived from price so there's no target leakage — the model only sees legitimate property attributes.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Implementation 2 (~30s): Every model runs through the same pipeline, wrapped so it learns on log-price but reports dollar errors. I compared 7 regressors and 4 classifiers on the exact same split. The feature importance chart shows the three biggest price drivers are location, build grade, and living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Challenges (~35s): Four main hurdles. Skewed prices — fixed with a log transform. Leakage risk — fixed by dropping price-derived columns. Many zip codes — one-hot encoded inside the pipeline. And keeping model comparison fair — solved with one reusable evaluation function and a fixed random seed.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Tools (~25s): A standard, reproducible Python data stack — pandas and NumPy for data, Matplotlib and Seaborn for visuals, scikit-learn for all the modelling, SciPy for the statistical test, all inside Jupyter. I chose it because it's the industry standard for tabular ML and lets me cover all three tasks in one environment.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management (~25s): I treated the notebook as both code and documentation — one section per stage, fully reproducible with fixed seeds and reusable functions. What worked was keeping everything in one consistent pipeline. If I extended it, I'd modularise the code and add cross-validated hyperparameter tuning.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Major obstacle (~40s): My biggest lesson. The headline R² of 0.88 looked excellent, but when I broke errors down by price band, the model was off by ~$48k on normal homes and ~$158k on luxury homes. Aggregate metrics hid a real weakness on the expensive segment. In hindsight I'd model the luxury tail separately and always report error per segment, not just overall.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Conclusions 1 (~30s): All three goals were met. Gradient Boosting explains about 88% of price variance and classifies luxury homes with 93% accuracy. Three features dominate: location, grade, and living area. The tree ensembles clearly beat the linear models because they capture non-linear interactions.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Conclusions 2 (~35s): The most surprising insight — clustering on physical and location features alone, with no price, recovered a premium and a standard segment that track price almost perfectly. That confirms those attributes really define value. Practically, this supports automated valuation and segment-based marketing. The open question is why luxury error stays high, and whether external data would help.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(~10s): That's the project — predicting prices, flagging luxury homes, and segmenting the market. Thank you, and I'm happy to take any questions. Now I'll switch to the notebook for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2194560" cy="585216"/>
          </a:xfrm>
          <a:prstGeom prst="rect">
            <a:avLst/>
          </a:prstGeom>
        </p:spPr>
      </p:pic>
      <p:pic>
        <p:nvPicPr>
          <p:cNvPr id="3" name="Image 1" descr="assets/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685800"/>
            <a:ext cx="1554480" cy="15544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2331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E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ANALYTICS BOOTCAMP · FINAL PROJECT</a:t>
            </a:r>
            <a:endParaRPr lang="en-US" sz="1400" dirty="0"/>
          </a:p>
        </p:txBody>
      </p:sp>
      <p:sp>
        <p:nvSpPr>
          <p:cNvPr id="5" name="Text 1"/>
          <p:cNvSpPr/>
          <p:nvPr/>
        </p:nvSpPr>
        <p:spPr>
          <a:xfrm>
            <a:off x="640080" y="2697480"/>
            <a:ext cx="10972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 County</a:t>
            </a:r>
            <a:endParaRPr lang="en-US" sz="54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 Price Prediction</a:t>
            </a:r>
            <a:endParaRPr lang="en-US" sz="5400" dirty="0"/>
          </a:p>
        </p:txBody>
      </p:sp>
      <p:sp>
        <p:nvSpPr>
          <p:cNvPr id="6" name="Text 2"/>
          <p:cNvSpPr/>
          <p:nvPr/>
        </p:nvSpPr>
        <p:spPr>
          <a:xfrm>
            <a:off x="658368" y="4526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CE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Predicting home sale prices and spotting luxury properties with Machine Learning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685800" y="5440680"/>
            <a:ext cx="2011680" cy="0"/>
          </a:xfrm>
          <a:prstGeom prst="line">
            <a:avLst/>
          </a:prstGeom>
          <a:noFill/>
          <a:ln w="31750">
            <a:solidFill>
              <a:srgbClr val="2EE6D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58368" y="562356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Daniel</a:t>
            </a:r>
            <a:pPr indent="0" marL="0">
              <a:buNone/>
            </a:pPr>
            <a:r>
              <a:rPr lang="en-US" sz="1600" dirty="0">
                <a:solidFill>
                  <a:srgbClr val="9AA2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Ironhack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10896"/>
            <a:ext cx="141732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93268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B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OVERVIEW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02920" y="118872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project sets out to do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938528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one year of King County home sales (May 2014 – May 2015), the project answers three questions with three different families of ML models.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697480"/>
            <a:ext cx="3611880" cy="2788920"/>
          </a:xfrm>
          <a:prstGeom prst="roundRect">
            <a:avLst>
              <a:gd name="adj" fmla="val 3279"/>
            </a:avLst>
          </a:prstGeom>
          <a:solidFill>
            <a:srgbClr val="F1FBFA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29260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777240" y="3657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 price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777240" y="416052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Regression on the continuous sale price, and learn which features drive it most.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325112" y="2697480"/>
            <a:ext cx="3611880" cy="2788920"/>
          </a:xfrm>
          <a:prstGeom prst="roundRect">
            <a:avLst>
              <a:gd name="adj" fmla="val 3279"/>
            </a:avLst>
          </a:prstGeom>
          <a:solidFill>
            <a:srgbClr val="F1FBFA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599432" y="29260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4599432" y="3657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 luxury homes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4599432" y="416052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Classification: is a house ≥ $650,000? Identify what sets premium homes apart.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8147304" y="2697480"/>
            <a:ext cx="3611880" cy="2788920"/>
          </a:xfrm>
          <a:prstGeom prst="roundRect">
            <a:avLst>
              <a:gd name="adj" fmla="val 3279"/>
            </a:avLst>
          </a:prstGeom>
          <a:solidFill>
            <a:srgbClr val="F1FBFA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421624" y="29260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8421624" y="3657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the market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8421624" y="416052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Unsupervised KMeans clustering to find natural groups of homes — no price used.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 County House Price Prediction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10896"/>
            <a:ext cx="141732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93268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B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OVERVIEW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02920" y="118872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dataset at a glance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993392"/>
            <a:ext cx="2542032" cy="1371600"/>
          </a:xfrm>
          <a:prstGeom prst="roundRect">
            <a:avLst>
              <a:gd name="adj" fmla="val 6667"/>
            </a:avLst>
          </a:prstGeom>
          <a:solidFill>
            <a:srgbClr val="13132B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02920" y="2139696"/>
            <a:ext cx="2542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21,613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02920" y="2779776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5D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sales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172968" y="1993392"/>
            <a:ext cx="2542032" cy="1371600"/>
          </a:xfrm>
          <a:prstGeom prst="roundRect">
            <a:avLst>
              <a:gd name="adj" fmla="val 6667"/>
            </a:avLst>
          </a:prstGeom>
          <a:solidFill>
            <a:srgbClr val="13132B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3172968" y="2139696"/>
            <a:ext cx="2542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3172968" y="2779776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5D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features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843016" y="1993392"/>
            <a:ext cx="2542032" cy="1371600"/>
          </a:xfrm>
          <a:prstGeom prst="roundRect">
            <a:avLst>
              <a:gd name="adj" fmla="val 6667"/>
            </a:avLst>
          </a:prstGeom>
          <a:solidFill>
            <a:srgbClr val="13132B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843016" y="2139696"/>
            <a:ext cx="2542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$540k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5843016" y="2779776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5D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price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513064" y="1993392"/>
            <a:ext cx="2542032" cy="1371600"/>
          </a:xfrm>
          <a:prstGeom prst="roundRect">
            <a:avLst>
              <a:gd name="adj" fmla="val 6667"/>
            </a:avLst>
          </a:prstGeom>
          <a:solidFill>
            <a:srgbClr val="13132B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513064" y="2139696"/>
            <a:ext cx="2542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24.6%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8513064" y="2779776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5D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luxury (≥$650k)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02920" y="3611880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Right‑skewed target.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homes sell in the low‑to‑mid range with a long tail of very expensive properties (up to $7.7M). A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3B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transformation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applied so models train on a well‑behaved distribution.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943600" y="3520440"/>
            <a:ext cx="5760720" cy="26974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pic>
        <p:nvPicPr>
          <p:cNvPr id="19" name="Image 1" descr="assets/fig_price_dis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08192" y="3685032"/>
            <a:ext cx="5431536" cy="236829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 County House Price Prediction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10896"/>
            <a:ext cx="141732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93268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B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DETAILS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02920" y="118872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raw data to model‑ready features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2011680"/>
            <a:ext cx="2148840" cy="1051560"/>
          </a:xfrm>
          <a:prstGeom prst="roundRect">
            <a:avLst>
              <a:gd name="adj" fmla="val 8696"/>
            </a:avLst>
          </a:prstGeom>
          <a:solidFill>
            <a:srgbClr val="13132B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02920" y="201168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&amp;</a:t>
            </a:r>
            <a:endParaRPr lang="en-US" sz="13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633472" y="2011680"/>
            <a:ext cx="2011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3B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816352" y="2011680"/>
            <a:ext cx="2148840" cy="1051560"/>
          </a:xfrm>
          <a:prstGeom prst="roundRect">
            <a:avLst>
              <a:gd name="adj" fmla="val 8696"/>
            </a:avLst>
          </a:prstGeom>
          <a:solidFill>
            <a:srgbClr val="13132B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816352" y="201168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&amp;</a:t>
            </a:r>
            <a:endParaRPr lang="en-US" sz="13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 features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946904" y="2011680"/>
            <a:ext cx="2011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3B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129784" y="2011680"/>
            <a:ext cx="2148840" cy="1051560"/>
          </a:xfrm>
          <a:prstGeom prst="roundRect">
            <a:avLst>
              <a:gd name="adj" fmla="val 8696"/>
            </a:avLst>
          </a:prstGeom>
          <a:solidFill>
            <a:srgbClr val="13132B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129784" y="201168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</a:t>
            </a:r>
            <a:endParaRPr lang="en-US" sz="13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leakage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260336" y="2011680"/>
            <a:ext cx="2011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3B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7443216" y="2011680"/>
            <a:ext cx="2148840" cy="1051560"/>
          </a:xfrm>
          <a:prstGeom prst="roundRect">
            <a:avLst>
              <a:gd name="adj" fmla="val 8696"/>
            </a:avLst>
          </a:prstGeom>
          <a:solidFill>
            <a:srgbClr val="13132B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443216" y="201168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Pipeline:</a:t>
            </a:r>
            <a:endParaRPr lang="en-US" sz="13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+ encode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573768" y="2011680"/>
            <a:ext cx="2011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3B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9756648" y="2011680"/>
            <a:ext cx="2148840" cy="1051560"/>
          </a:xfrm>
          <a:prstGeom prst="roundRect">
            <a:avLst>
              <a:gd name="adj" fmla="val 8696"/>
            </a:avLst>
          </a:prstGeom>
          <a:solidFill>
            <a:srgbClr val="2EE6D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9756648" y="201168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3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&amp; compare</a:t>
            </a:r>
            <a:endParaRPr lang="en-US" sz="13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3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" y="3429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Engineered features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548640" y="3840480"/>
            <a:ext cx="5486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3B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house_age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sale year − year built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3B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was_renovated  /  years_since_renovation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renovation history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3B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has_basement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basement present or not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3B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sale_year / sale_month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parsed from the sale date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400800" y="3520440"/>
            <a:ext cx="5303520" cy="2468880"/>
          </a:xfrm>
          <a:prstGeom prst="roundRect">
            <a:avLst>
              <a:gd name="adj" fmla="val 3704"/>
            </a:avLst>
          </a:prstGeom>
          <a:solidFill>
            <a:srgbClr val="F1FBFA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6675120" y="37033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No target leakage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6675120" y="416052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built from price (</a:t>
            </a:r>
            <a:pPr indent="0" marL="0">
              <a:lnSpc>
                <a:spcPct val="118000"/>
              </a:lnSpc>
              <a:buNone/>
            </a:pPr>
            <a:r>
              <a:rPr lang="en-US" sz="1450" i="1" dirty="0">
                <a:solidFill>
                  <a:srgbClr val="13B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log_price, luxury_home, price_per_sqft</a:t>
            </a:r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plus IDs and dates are </a:t>
            </a:r>
            <a:pPr indent="0" marL="0">
              <a:lnSpc>
                <a:spcPct val="118000"/>
              </a:lnSpc>
              <a:buNone/>
            </a:pPr>
            <a:r>
              <a:rPr lang="en-US" sz="145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dropped from the predictors</a:t>
            </a:r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 the model can never see the answer it's trying to predict.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 County House Price Prediction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10896"/>
            <a:ext cx="141732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93268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B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DETAILS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02920" y="118872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consistent, reproducible modelling setup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066544"/>
            <a:ext cx="237744" cy="237744"/>
          </a:xfrm>
          <a:prstGeom prst="ellipse">
            <a:avLst/>
          </a:prstGeom>
          <a:solidFill>
            <a:srgbClr val="2EE6D6"/>
          </a:solidFill>
          <a:ln/>
        </p:spPr>
      </p:sp>
      <p:sp>
        <p:nvSpPr>
          <p:cNvPr id="6" name="Text 3"/>
          <p:cNvSpPr/>
          <p:nvPr/>
        </p:nvSpPr>
        <p:spPr>
          <a:xfrm>
            <a:off x="914400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Pipeline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14400" y="2313432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StandardScaler for numeric + OneHotEncoder for zipcode, so preprocessing is identical for every model.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3145536"/>
            <a:ext cx="237744" cy="237744"/>
          </a:xfrm>
          <a:prstGeom prst="ellipse">
            <a:avLst/>
          </a:prstGeom>
          <a:solidFill>
            <a:srgbClr val="2EE6D6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30449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Log‑target wrapper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392424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TransformedTargetRegressor (log1p / expm1) keeps errors interpretable in dollars.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4224528"/>
            <a:ext cx="237744" cy="237744"/>
          </a:xfrm>
          <a:prstGeom prst="ellipse">
            <a:avLst/>
          </a:prstGeom>
          <a:solidFill>
            <a:srgbClr val="2EE6D6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412394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 comparison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914400" y="4471416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80/20 split (random_state=42); models ranked by Test RMSE &amp; F1.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48640" y="5303520"/>
            <a:ext cx="237744" cy="237744"/>
          </a:xfrm>
          <a:prstGeom prst="ellipse">
            <a:avLst/>
          </a:prstGeom>
          <a:solidFill>
            <a:srgbClr val="2EE6D6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520293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regressors · 4 classifiers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914400" y="555040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Linear/Ridge/Lasso to tree ensembles, plus KMeans for segmentation.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400800" y="1965960"/>
            <a:ext cx="530352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pic>
        <p:nvPicPr>
          <p:cNvPr id="18" name="Image 1" descr="assets/fig_feature_importanc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65392" y="2130552"/>
            <a:ext cx="4974336" cy="383133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400800" y="605332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price drivers: location (lat), grade &amp; living area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 County House Price Prediction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10896"/>
            <a:ext cx="141732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93268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B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 &amp; SOLUTIONS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02920" y="118872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 faced — and how they were solved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2057400"/>
            <a:ext cx="11201400" cy="1024128"/>
          </a:xfrm>
          <a:prstGeom prst="roundRect">
            <a:avLst>
              <a:gd name="adj" fmla="val 8929"/>
            </a:avLst>
          </a:prstGeom>
          <a:solidFill>
            <a:srgbClr val="F1FBFA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2057400"/>
            <a:ext cx="30175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Strongly skewed prices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3886200" y="2057400"/>
            <a:ext cx="36576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trained on raw price underperformed.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680960" y="2057400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B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Applied a log1p target transform, then inverse‑transformed predictions back to dollars.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3227832"/>
            <a:ext cx="11201400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77240" y="3227832"/>
            <a:ext cx="30175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of target leakage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886200" y="3227832"/>
            <a:ext cx="36576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handy columns were derived from price.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680960" y="3227832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B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Explicitly excluded every price‑derived feature from the predictor set.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02920" y="4398264"/>
            <a:ext cx="11201400" cy="1024128"/>
          </a:xfrm>
          <a:prstGeom prst="roundRect">
            <a:avLst>
              <a:gd name="adj" fmla="val 8929"/>
            </a:avLst>
          </a:prstGeom>
          <a:solidFill>
            <a:srgbClr val="F1FBFA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77240" y="4398264"/>
            <a:ext cx="30175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High‑cardinality zipcode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886200" y="4398264"/>
            <a:ext cx="36576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70+ zip codes can't be fed as raw numbers.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680960" y="4398264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B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One‑hot encoded zipcode inside the pipeline with handle_unknown='ignore'.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5568696"/>
            <a:ext cx="11201400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77240" y="5568696"/>
            <a:ext cx="30175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Comparing many models fairly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3886200" y="5568696"/>
            <a:ext cx="36576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to get inconsistent, non‑reproducible results.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680960" y="5568696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B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reusable evaluation function + fixed random_state for every model.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 County House Price Prediction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10896"/>
            <a:ext cx="141732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93268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B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&amp; TECHNOLOGIES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02920" y="118872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 behind the analysis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2103120"/>
            <a:ext cx="370332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237744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AF6F5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B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508760" y="2414016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3.11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795528" y="306324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language for the whole pipeline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70832" y="2103120"/>
            <a:ext cx="370332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45152" y="237744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AF6F5"/>
          </a:solidFill>
          <a:ln/>
        </p:spPr>
      </p:sp>
      <p:sp>
        <p:nvSpPr>
          <p:cNvPr id="12" name="Text 9"/>
          <p:cNvSpPr/>
          <p:nvPr/>
        </p:nvSpPr>
        <p:spPr>
          <a:xfrm>
            <a:off x="4645152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B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5376672" y="2414016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pandas + NumPy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4663440" y="306324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wrangling &amp; feature engineering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238744" y="2103120"/>
            <a:ext cx="370332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513064" y="237744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AF6F5"/>
          </a:solidFill>
          <a:ln/>
        </p:spPr>
      </p:sp>
      <p:sp>
        <p:nvSpPr>
          <p:cNvPr id="17" name="Text 14"/>
          <p:cNvSpPr/>
          <p:nvPr/>
        </p:nvSpPr>
        <p:spPr>
          <a:xfrm>
            <a:off x="8513064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B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9244584" y="2414016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Matplotlib + Seaborn</a:t>
            </a:r>
            <a:endParaRPr lang="en-US" sz="1650" dirty="0"/>
          </a:p>
        </p:txBody>
      </p:sp>
      <p:sp>
        <p:nvSpPr>
          <p:cNvPr id="19" name="Text 16"/>
          <p:cNvSpPr/>
          <p:nvPr/>
        </p:nvSpPr>
        <p:spPr>
          <a:xfrm>
            <a:off x="8531352" y="306324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 and all visualizations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" y="4069080"/>
            <a:ext cx="370332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77240" y="43434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AF6F5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4343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B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1508760" y="4379976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scikit‑learn</a:t>
            </a:r>
            <a:endParaRPr lang="en-US" sz="1650" dirty="0"/>
          </a:p>
        </p:txBody>
      </p:sp>
      <p:sp>
        <p:nvSpPr>
          <p:cNvPr id="24" name="Text 21"/>
          <p:cNvSpPr/>
          <p:nvPr/>
        </p:nvSpPr>
        <p:spPr>
          <a:xfrm>
            <a:off x="795528" y="502920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Pipelines, models, KMeans, metrics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370832" y="4069080"/>
            <a:ext cx="370332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645152" y="43434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AF6F5"/>
          </a:solidFill>
          <a:ln/>
        </p:spPr>
      </p:sp>
      <p:sp>
        <p:nvSpPr>
          <p:cNvPr id="27" name="Text 24"/>
          <p:cNvSpPr/>
          <p:nvPr/>
        </p:nvSpPr>
        <p:spPr>
          <a:xfrm>
            <a:off x="4645152" y="4343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B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5376672" y="4379976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SciPy</a:t>
            </a:r>
            <a:endParaRPr lang="en-US" sz="1650" dirty="0"/>
          </a:p>
        </p:txBody>
      </p:sp>
      <p:sp>
        <p:nvSpPr>
          <p:cNvPr id="29" name="Text 26"/>
          <p:cNvSpPr/>
          <p:nvPr/>
        </p:nvSpPr>
        <p:spPr>
          <a:xfrm>
            <a:off x="4663440" y="502920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Welch's t‑test for hypothesis testing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8238744" y="4069080"/>
            <a:ext cx="370332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8513064" y="43434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AF6F5"/>
          </a:solidFill>
          <a:ln/>
        </p:spPr>
      </p:sp>
      <p:sp>
        <p:nvSpPr>
          <p:cNvPr id="32" name="Text 29"/>
          <p:cNvSpPr/>
          <p:nvPr/>
        </p:nvSpPr>
        <p:spPr>
          <a:xfrm>
            <a:off x="8513064" y="4343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B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33" name="Text 30"/>
          <p:cNvSpPr/>
          <p:nvPr/>
        </p:nvSpPr>
        <p:spPr>
          <a:xfrm>
            <a:off x="9244584" y="4379976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Jupyter Notebook</a:t>
            </a:r>
            <a:endParaRPr lang="en-US" sz="1650" dirty="0"/>
          </a:p>
        </p:txBody>
      </p:sp>
      <p:sp>
        <p:nvSpPr>
          <p:cNvPr id="34" name="Text 31"/>
          <p:cNvSpPr/>
          <p:nvPr/>
        </p:nvSpPr>
        <p:spPr>
          <a:xfrm>
            <a:off x="8531352" y="502920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Interactive, reproducible workflow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502920" y="5989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stack:  the scikit‑learn + pandas ecosystem is the industry standard for tabular ML — fast to prototype, easy to keep reproducible, and rich enough to cover regression, classification and clustering in one place.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 County House Price Prediction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10896"/>
            <a:ext cx="141732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93268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B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&amp; PROJECT MANAGEMENT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02920" y="118872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work was organised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938528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project was run as a single, linear notebook that doubles as documentation — each stage builds on the previous one and is reproducible end‑to‑end.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697480"/>
            <a:ext cx="3611880" cy="2468880"/>
          </a:xfrm>
          <a:prstGeom prst="roundRect">
            <a:avLst>
              <a:gd name="adj" fmla="val 3704"/>
            </a:avLst>
          </a:prstGeom>
          <a:solidFill>
            <a:srgbClr val="F1FBFA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29260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notebook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77240" y="361188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clear section per stage (EDA → regression → classification → clustering) with markdown narration.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25112" y="2697480"/>
            <a:ext cx="3611880" cy="2468880"/>
          </a:xfrm>
          <a:prstGeom prst="roundRect">
            <a:avLst>
              <a:gd name="adj" fmla="val 3704"/>
            </a:avLst>
          </a:prstGeom>
          <a:solidFill>
            <a:srgbClr val="F1FBFA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599432" y="29260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Reproducibility first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4599432" y="361188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seeds, pipelines and helper functions so any result can be regenerated on demand.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147304" y="2697480"/>
            <a:ext cx="3611880" cy="2468880"/>
          </a:xfrm>
          <a:prstGeom prst="roundRect">
            <a:avLst>
              <a:gd name="adj" fmla="val 3704"/>
            </a:avLst>
          </a:prstGeom>
          <a:solidFill>
            <a:srgbClr val="F1FBFA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21624" y="29260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Iterative evaluation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421624" y="361188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added one at a time and ranked on a shared metrics table before picking a winner.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5394960"/>
            <a:ext cx="11201400" cy="868680"/>
          </a:xfrm>
          <a:prstGeom prst="roundRect">
            <a:avLst>
              <a:gd name="adj" fmla="val 10526"/>
            </a:avLst>
          </a:prstGeom>
          <a:solidFill>
            <a:srgbClr val="13132B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777240" y="539496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E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worked:  </a:t>
            </a:r>
            <a:pPr indent="0" marL="0">
              <a:buNone/>
            </a:pPr>
            <a:r>
              <a:rPr lang="en-US" sz="1450" dirty="0">
                <a:solidFill>
                  <a:srgbClr val="E3E7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keeping everything in one reproducible pipeline.   </a:t>
            </a:r>
            <a:pPr indent="0" marL="0">
              <a:buNone/>
            </a:pPr>
            <a:r>
              <a:rPr lang="en-US" sz="1450" b="1" dirty="0">
                <a:solidFill>
                  <a:srgbClr val="2E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improve:  </a:t>
            </a:r>
            <a:pPr indent="0" marL="0">
              <a:buNone/>
            </a:pPr>
            <a:r>
              <a:rPr lang="en-US" sz="1450" dirty="0">
                <a:solidFill>
                  <a:srgbClr val="E3E7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code into modules and add cross‑validated tuning.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 County House Price Prediction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10896"/>
            <a:ext cx="141732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9601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BIGGEST OBSTACLE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is much weaker on luxury homes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2286000"/>
            <a:ext cx="2743200" cy="1554480"/>
          </a:xfrm>
          <a:prstGeom prst="roundRect">
            <a:avLst>
              <a:gd name="adj" fmla="val 5882"/>
            </a:avLst>
          </a:prstGeom>
          <a:solidFill>
            <a:srgbClr val="1E1E3F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02920" y="24688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~$48k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02920" y="3154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5D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error · non‑luxury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429000" y="2286000"/>
            <a:ext cx="2743200" cy="1554480"/>
          </a:xfrm>
          <a:prstGeom prst="roundRect">
            <a:avLst>
              <a:gd name="adj" fmla="val 5882"/>
            </a:avLst>
          </a:prstGeom>
          <a:solidFill>
            <a:srgbClr val="1E1E3F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3429000" y="24688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~$158k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3429000" y="3154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5D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error · luxury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00800" y="2194560"/>
            <a:ext cx="530352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assets/fig_err_priceran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65392" y="2359152"/>
            <a:ext cx="4974336" cy="245973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2920" y="4114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learned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502920" y="4480560"/>
            <a:ext cx="5577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 metrics hide segment failure. 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9CE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R² of 0.88 looked great until I broke errors down by price band and saw the high‑end was poorly served.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hindsight: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9CE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I'd model the luxury tail separately, gather more high‑end samples, and report error per segment from the start.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6400800" y="50292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AA2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rises steeply with price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10896"/>
            <a:ext cx="141732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93268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B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 &amp; INSIGHTS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02920" y="118872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the project meet its objectives?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2011680"/>
            <a:ext cx="3703320" cy="1691640"/>
          </a:xfrm>
          <a:prstGeom prst="roundRect">
            <a:avLst>
              <a:gd name="adj" fmla="val 5405"/>
            </a:avLst>
          </a:prstGeom>
          <a:solidFill>
            <a:srgbClr val="13132B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02920" y="2212848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0.88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31520" y="301752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3E7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R² — Gradient Boosting explains ~88% of price variance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370832" y="2011680"/>
            <a:ext cx="3703320" cy="1691640"/>
          </a:xfrm>
          <a:prstGeom prst="roundRect">
            <a:avLst>
              <a:gd name="adj" fmla="val 5405"/>
            </a:avLst>
          </a:prstGeom>
          <a:solidFill>
            <a:srgbClr val="13132B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370832" y="2212848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93%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4599432" y="301752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3E7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classifying luxury vs non‑luxury homes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238744" y="2011680"/>
            <a:ext cx="3703320" cy="1691640"/>
          </a:xfrm>
          <a:prstGeom prst="roundRect">
            <a:avLst>
              <a:gd name="adj" fmla="val 5405"/>
            </a:avLst>
          </a:prstGeom>
          <a:solidFill>
            <a:srgbClr val="13132B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238744" y="2212848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8467344" y="301752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3E7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drivers dominate price: location, grade &amp; living area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3977640"/>
            <a:ext cx="55778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pic>
        <p:nvPicPr>
          <p:cNvPr id="15" name="Image 1" descr="assets/fig_reg_r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7512" y="4142232"/>
            <a:ext cx="5248656" cy="195681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400800" y="3977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learnings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6400800" y="4370832"/>
            <a:ext cx="5303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All three objectives were met: 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accurate price prediction, reliable luxury detection, and a clean two‑segment market.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Ensembles beat linear models 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thanks to non‑linear feature interactions.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Gradient Boosting 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won by balancing accuracy with almost no overfitting.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 County House Price Prediction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10896"/>
            <a:ext cx="141732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93268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B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 &amp; INSIGHTS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02920" y="118872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surprising finding &amp; what it means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2011680"/>
            <a:ext cx="5486400" cy="1874520"/>
          </a:xfrm>
          <a:prstGeom prst="roundRect">
            <a:avLst>
              <a:gd name="adj" fmla="val 4878"/>
            </a:avLst>
          </a:prstGeom>
          <a:solidFill>
            <a:srgbClr val="F1FBFA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21945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splits cleanly in two — without using price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731520" y="28803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KMeans on physical &amp; location features alone recovered a Premium and a Standard segment that closely track price — strong evidence those attributes truly define value.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406908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13132B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02920" y="4224528"/>
            <a:ext cx="267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02920" y="4617720"/>
            <a:ext cx="26700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$736k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price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5D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 luxury · grade 8.6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319272" y="406908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1E1E3F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319272" y="4224528"/>
            <a:ext cx="267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3319272" y="4617720"/>
            <a:ext cx="26700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$420k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price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5D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 luxury · grade 7.1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400800" y="2011680"/>
            <a:ext cx="5303520" cy="26974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pic>
        <p:nvPicPr>
          <p:cNvPr id="15" name="Image 1" descr="assets/fig_cluster_pric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65392" y="2176272"/>
            <a:ext cx="4974336" cy="236829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400800" y="484632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3B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Implications: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useful for automated valuation, pricing premium listings, and targeting marketing by segment.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6400800" y="557784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open: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luxury error stays high, and whether external data (schools, transit) would close the gap.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 County House Price Prediction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1264" y="137160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74320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5200" dirty="0"/>
          </a:p>
        </p:txBody>
      </p:sp>
      <p:sp>
        <p:nvSpPr>
          <p:cNvPr id="4" name="Text 1"/>
          <p:cNvSpPr/>
          <p:nvPr/>
        </p:nvSpPr>
        <p:spPr>
          <a:xfrm>
            <a:off x="457200" y="37033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 County House Price Prediction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457200" y="438912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EB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600" dirty="0"/>
          </a:p>
        </p:txBody>
      </p:sp>
      <p:pic>
        <p:nvPicPr>
          <p:cNvPr id="6" name="Image 1" descr="assets/logo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624" y="5212080"/>
            <a:ext cx="2194560" cy="58521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2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Daniel  ·  Ironhack Data Analytics Bootcamp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 County House Price Prediction</dc:title>
  <dc:subject>PptxGenJS Presentation</dc:subject>
  <dc:creator>Daniel</dc:creator>
  <cp:lastModifiedBy>Daniel</cp:lastModifiedBy>
  <cp:revision>1</cp:revision>
  <dcterms:created xsi:type="dcterms:W3CDTF">2026-06-23T13:10:02Z</dcterms:created>
  <dcterms:modified xsi:type="dcterms:W3CDTF">2026-06-23T13:10:02Z</dcterms:modified>
</cp:coreProperties>
</file>